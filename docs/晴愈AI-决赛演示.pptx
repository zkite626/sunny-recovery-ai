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72" r:id="rId10"/>
    <p:sldId id="271" r:id="rId11"/>
    <p:sldId id="262" r:id="rId12"/>
    <p:sldId id="270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7"/>
    <p:restoredTop sz="94610"/>
  </p:normalViewPr>
  <p:slideViewPr>
    <p:cSldViewPr snapToGrid="0" snapToObjects="1">
      <p:cViewPr>
        <p:scale>
          <a:sx n="150" d="100"/>
          <a:sy n="150" d="100"/>
        </p:scale>
        <p:origin x="-1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8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2026 应用心理学专业活动月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晴愈AI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大学生心理健康智能伙伴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097280" cy="36576"/>
          </a:xfrm>
          <a:prstGeom prst="rect">
            <a:avLst/>
          </a:prstGeom>
          <a:solidFill>
            <a:srgbClr val="F6A62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6B5D"/>
                </a:solidFill>
              </a:rPr>
              <a:t>直面情绪，向阳而生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9A"/>
                </a:solidFill>
              </a:rPr>
              <a:t>心晴小队 · 南宁师范大学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</a:rPr>
              <a:t>李悦（组长）  王梓 · 陈曦    2026年4月27日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6A62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背景分析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大学生心理健康，不容忽视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焦虑、内耗、自我否定……这些情绪正在影响越来越多大学生的日常生活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学业焦虑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考前反复焦虑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复习效率低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越拖越焦虑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82880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011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😞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自我否定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0175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完美主义导致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不敢开始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反复自我批评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011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🥺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社交压力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与同学对比进度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产生自我怀疑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回避社交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0116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😶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67512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缺乏倾诉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01752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心理咨询预约难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不愿向身边人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7A6B5D"/>
                </a:solidFill>
              </a:rPr>
              <a:t>袒露脆弱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86C7A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解决方案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晴愈AI：AI + 心理学的疗愈伙伴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594360" cy="594360"/>
          </a:xfrm>
          <a:prstGeom prst="ellipse">
            <a:avLst/>
          </a:prstGeom>
          <a:solidFill>
            <a:srgbClr val="F6A62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情绪觉察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识别情绪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类型与强度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A62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594360" cy="594360"/>
          </a:xfrm>
          <a:prstGeom prst="ellipse">
            <a:avLst/>
          </a:prstGeom>
          <a:solidFill>
            <a:srgbClr val="FD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402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身体扫描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觉察情绪的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身体感受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A623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AI对话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CBT引导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认知重构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A62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97880" y="1554480"/>
            <a:ext cx="594360" cy="594360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文学安慰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AI创作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治愈文字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A62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98080" y="1554480"/>
            <a:ext cx="594360" cy="594360"/>
          </a:xfrm>
          <a:prstGeom prst="ellipse">
            <a:avLst/>
          </a:prstGeom>
          <a:solidFill>
            <a:srgbClr val="86C7A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情绪卡片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生成专属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疗愈记录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56616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D5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99A"/>
                </a:solidFill>
              </a:rPr>
              <a:t>智能体工具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356616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D5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651760" y="4206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99A"/>
                </a:solidFill>
              </a:rPr>
              <a:t>思维陷阱识别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56616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D5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63440" y="4206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99A"/>
                </a:solidFill>
              </a:rPr>
              <a:t>呼吸模式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56616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D5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611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675120" y="4206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99A"/>
                </a:solidFill>
              </a:rPr>
              <a:t>功能模块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457200"/>
            <a:ext cx="2286000" cy="22860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核心功能一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智能体对话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不只是聊天——AI 能自主调用工具，主动提供帮助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164592" cy="164592"/>
          </a:xfrm>
          <a:prstGeom prst="ellipse">
            <a:avLst/>
          </a:prstGeom>
          <a:solidFill>
            <a:srgbClr val="F6A62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自主判断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5D"/>
                </a:solidFill>
              </a:rPr>
              <a:t>AI 根据用户表达，自主选择最合适的支持方式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64592" cy="164592"/>
          </a:xfrm>
          <a:prstGeom prst="ellipse">
            <a:avLst/>
          </a:prstGeom>
          <a:solidFill>
            <a:srgbClr val="86C7A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工具调用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5D"/>
                </a:solidFill>
              </a:rPr>
              <a:t>10种工具：身体扫描、呼吸引导、心理测评等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82112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跨会话记忆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5D"/>
                </a:solidFill>
              </a:rPr>
              <a:t>记住用户分享过的事情，体现持续关心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64592" cy="164592"/>
          </a:xfrm>
          <a:prstGeom prst="ellipse">
            <a:avLst/>
          </a:prstGeom>
          <a:solidFill>
            <a:srgbClr val="FD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危机检测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5D"/>
                </a:solidFill>
              </a:rPr>
              <a:t>识别自伤关键词，立即提供心理援助热线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69164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E1F"/>
                </a:solidFill>
              </a:rPr>
              <a:t>你好呀 👋 我是晴愈，你的心理健康伙伴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3774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6350">
            <a:solidFill>
              <a:srgbClr val="FDE2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2E1F"/>
                </a:solidFill>
              </a:rPr>
              <a:t>明天就要考试了，我觉得自己什么都没准备好……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06324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E1F"/>
                </a:solidFill>
              </a:rPr>
              <a:t>听起来你有些考前焦虑呢 😰 这种「来不及了」的想法，是不是让你更难开始？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840480"/>
            <a:ext cx="2286000" cy="320040"/>
          </a:xfrm>
          <a:prstGeom prst="roundRect">
            <a:avLst>
              <a:gd name="adj" fmla="val 57143"/>
            </a:avLst>
          </a:prstGeom>
          <a:solidFill>
            <a:srgbClr val="D4EDDA"/>
          </a:solidFill>
          <a:ln w="6350">
            <a:solidFill>
              <a:srgbClr val="86C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8587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C7A3"/>
                </a:solidFill>
              </a:rPr>
              <a:t>正在启动正念呼吸...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23"/>
                </a:solidFill>
              </a:rPr>
              <a:t>界面展示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首页与AI对话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暖色调渐变设计 · 底部导航栏整合五大功能入口 · 智能体自主调用工具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00000"/>
            <a:ext cx="109728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0000" y="1530000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630" y="1610000"/>
            <a:ext cx="1404739" cy="304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00000" y="1530000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7630" y="1610000"/>
            <a:ext cx="1404739" cy="30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000" y="4810000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首页：疗愈入口 + 四大快捷功能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4810000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AI对话：自主调用工具，主动支持</a:t>
            </a:r>
          </a:p>
        </p:txBody>
      </p:sp>
      <p:sp>
        <p:nvSpPr>
          <p:cNvPr id="14" name="Oval 13"/>
          <p:cNvSpPr/>
          <p:nvPr/>
        </p:nvSpPr>
        <p:spPr>
          <a:xfrm>
            <a:off x="5800000" y="1530000"/>
            <a:ext cx="280000" cy="28000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0000" y="1500000"/>
            <a:ext cx="26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000" y="1780000"/>
            <a:ext cx="26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根据用户表达，自主选择最合适的支持方式</a:t>
            </a:r>
          </a:p>
        </p:txBody>
      </p:sp>
      <p:sp>
        <p:nvSpPr>
          <p:cNvPr id="17" name="Oval 16"/>
          <p:cNvSpPr/>
          <p:nvPr/>
        </p:nvSpPr>
        <p:spPr>
          <a:xfrm>
            <a:off x="5800000" y="2380000"/>
            <a:ext cx="280000" cy="280000"/>
          </a:xfrm>
          <a:prstGeom prst="ellipse">
            <a:avLst/>
          </a:prstGeom>
          <a:solidFill>
            <a:srgbClr val="FD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0000" y="2350000"/>
            <a:ext cx="26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工具调用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0000" y="2630000"/>
            <a:ext cx="26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10种工具：身体扫描、呼吸引导、心理测评等</a:t>
            </a:r>
          </a:p>
        </p:txBody>
      </p:sp>
      <p:sp>
        <p:nvSpPr>
          <p:cNvPr id="20" name="Oval 19"/>
          <p:cNvSpPr/>
          <p:nvPr/>
        </p:nvSpPr>
        <p:spPr>
          <a:xfrm>
            <a:off x="5800000" y="3230000"/>
            <a:ext cx="280000" cy="280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0000" y="3200000"/>
            <a:ext cx="26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跨会话记忆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0000" y="3480000"/>
            <a:ext cx="26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记住用户分享过的事情，体现持续关心</a:t>
            </a:r>
          </a:p>
        </p:txBody>
      </p:sp>
      <p:sp>
        <p:nvSpPr>
          <p:cNvPr id="23" name="Oval 22"/>
          <p:cNvSpPr/>
          <p:nvPr/>
        </p:nvSpPr>
        <p:spPr>
          <a:xfrm>
            <a:off x="5800000" y="4080000"/>
            <a:ext cx="280000" cy="280000"/>
          </a:xfrm>
          <a:prstGeom prst="ellipse">
            <a:avLst/>
          </a:prstGeom>
          <a:solidFill>
            <a:srgbClr val="86C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0000" y="4050000"/>
            <a:ext cx="26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危机检测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0000" y="4330000"/>
            <a:ext cx="26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识别自伤关键词，立即提供心理援助热线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743200"/>
            <a:ext cx="1828800" cy="1828800"/>
          </a:xfrm>
          <a:prstGeom prst="ellipse">
            <a:avLst/>
          </a:prstGeom>
          <a:solidFill>
            <a:srgbClr val="F6A62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核心功能二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步 CBT 情绪疗愈流程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基于认知行为疗法的结构化引导，每一步都有科学依据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1097280" cy="320040"/>
          </a:xfrm>
          <a:prstGeom prst="roundRect">
            <a:avLst>
              <a:gd name="adj" fmla="val 57143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623"/>
                </a:solidFill>
              </a:rPr>
              <a:t>步骤 1-2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情绪觉察 + 身体扫描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滑动选择情绪强度，选择情绪标签，写下感受。交互式人体图引导觉察身体紧张部位。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828800"/>
            <a:ext cx="1097280" cy="320040"/>
          </a:xfrm>
          <a:prstGeom prst="roundRect">
            <a:avLst>
              <a:gd name="adj" fmla="val 57143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步骤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CBT 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3轮引导：共情识别思维陷阱 → 分离想法与事实 → 认知重构 + 微行动建议。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4592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1097280" cy="320040"/>
          </a:xfrm>
          <a:prstGeom prst="roundRect">
            <a:avLst>
              <a:gd name="adj" fmla="val 57143"/>
            </a:avLst>
          </a:prstGeom>
          <a:solidFill>
            <a:srgbClr val="D4EDD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C7A3"/>
                </a:solidFill>
              </a:rPr>
              <a:t>步骤 4-5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文学安慰 + 情绪卡片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651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AI 创作专属治愈文字，生成精美疗愈卡片，记录完整旅程。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EE2E2">
              <a:alpha val="50000"/>
            </a:srgbClr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旧想法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E1F"/>
                </a:solidFill>
              </a:rPr>
              <a:t>「我必须完美，做不好就完蛋」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A623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D1FAE5">
              <a:alpha val="50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新想法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E1F"/>
                </a:solidFill>
              </a:rPr>
              <a:t>「先完成，再完善，每天进步一点」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23"/>
                </a:solidFill>
              </a:rPr>
              <a:t>界面展示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五步CBT情绪疗愈流程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基于认知行为疗法的结构化引导，每一步都有科学依据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00000"/>
            <a:ext cx="109728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630" y="1573661"/>
            <a:ext cx="1404739" cy="304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7630" y="1573661"/>
            <a:ext cx="1404739" cy="30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000" y="4773661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步骤1：情绪觉察 — 滑动选择强度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4773661"/>
            <a:ext cx="2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步骤5：情绪卡片 — 记录完整旅程</a:t>
            </a:r>
          </a:p>
        </p:txBody>
      </p:sp>
      <p:sp>
        <p:nvSpPr>
          <p:cNvPr id="14" name="Oval 13"/>
          <p:cNvSpPr/>
          <p:nvPr/>
        </p:nvSpPr>
        <p:spPr>
          <a:xfrm>
            <a:off x="5800000" y="1500000"/>
            <a:ext cx="350000" cy="35000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0000" y="15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情绪觉察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0000" y="1870000"/>
            <a:ext cx="30000" cy="280000"/>
          </a:xfrm>
          <a:prstGeom prst="rect">
            <a:avLst/>
          </a:prstGeom>
          <a:solidFill>
            <a:srgbClr val="F6A62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00000" y="2200000"/>
            <a:ext cx="350000" cy="350000"/>
          </a:xfrm>
          <a:prstGeom prst="ellipse">
            <a:avLst/>
          </a:prstGeom>
          <a:solidFill>
            <a:srgbClr val="FD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0000" y="22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身体扫描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0000" y="2570000"/>
            <a:ext cx="30000" cy="280000"/>
          </a:xfrm>
          <a:prstGeom prst="rect">
            <a:avLst/>
          </a:prstGeom>
          <a:solidFill>
            <a:srgbClr val="FDA085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00000" y="2900000"/>
            <a:ext cx="350000" cy="350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0000" y="29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AI对话引导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50000" y="3270000"/>
            <a:ext cx="30000" cy="280000"/>
          </a:xfrm>
          <a:prstGeom prst="rect">
            <a:avLst/>
          </a:prstGeom>
          <a:solidFill>
            <a:srgbClr val="A78BFA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00000" y="3600000"/>
            <a:ext cx="350000" cy="350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0000" y="36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文学安慰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0000" y="3970000"/>
            <a:ext cx="30000" cy="280000"/>
          </a:xfrm>
          <a:prstGeom prst="rect">
            <a:avLst/>
          </a:prstGeom>
          <a:solidFill>
            <a:srgbClr val="7DD3F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800000" y="4300000"/>
            <a:ext cx="350000" cy="350000"/>
          </a:xfrm>
          <a:prstGeom prst="ellipse">
            <a:avLst/>
          </a:prstGeom>
          <a:solidFill>
            <a:srgbClr val="86C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0000" y="430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情绪卡片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86C7A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核心功能三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多维辅助工具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正念呼吸、心理测评、感恩日记、情绪记录、沉浸互动、冥想、涂鸦、日历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正念呼吸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4-7-8 / 方形 / 共振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3种科学呼吸引导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动画可视化辅助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心理测评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PHQ-9 抑郁筛查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GAD-7 焦虑筛查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AI 个性化分析报告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感恩日记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每天记录 3 件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感恩的小事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培养积极心态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情绪日历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日历可视化记录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连续打卡激励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8个成就徽章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BD2D-724F-8D24-0581-93E20C53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2AF3F6C-9CBD-9EEA-A138-9A1A9465ABC3}"/>
              </a:ext>
            </a:extLst>
          </p:cNvPr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3172192-5903-E826-B4A8-7ED98BBC20BD}"/>
              </a:ext>
            </a:extLst>
          </p:cNvPr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4DC1B-6603-E453-53BB-9E57608D13EC}"/>
              </a:ext>
            </a:extLst>
          </p:cNvPr>
          <p:cNvSpPr txBox="1"/>
          <p:nvPr/>
        </p:nvSpPr>
        <p:spPr>
          <a:xfrm>
            <a:off x="640080" y="365760"/>
            <a:ext cx="1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23"/>
                </a:solidFill>
              </a:rPr>
              <a:t>界面展示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AF3F7-439B-CDF7-65DC-B30B46C662AC}"/>
              </a:ext>
            </a:extLst>
          </p:cNvPr>
          <p:cNvSpPr txBox="1"/>
          <p:nvPr/>
        </p:nvSpPr>
        <p:spPr>
          <a:xfrm>
            <a:off x="640080" y="6858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专业心理工具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60B3B-DBC4-8E71-3432-C5DE68565C87}"/>
              </a:ext>
            </a:extLst>
          </p:cNvPr>
          <p:cNvSpPr txBox="1"/>
          <p:nvPr/>
        </p:nvSpPr>
        <p:spPr>
          <a:xfrm>
            <a:off x="640080" y="1188720"/>
            <a:ext cx="8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正念呼吸 </a:t>
            </a:r>
            <a:r>
              <a:rPr lang="en-US" altLang="zh-CN" sz="12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 </a:t>
            </a:r>
            <a:r>
              <a:rPr lang="zh-CN" altLang="en-US" sz="12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心理测评</a:t>
            </a:r>
            <a:endParaRPr sz="12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68F77-7C69-49A7-F991-8FBC88E0E443}"/>
              </a:ext>
            </a:extLst>
          </p:cNvPr>
          <p:cNvSpPr/>
          <p:nvPr/>
        </p:nvSpPr>
        <p:spPr>
          <a:xfrm>
            <a:off x="640080" y="1100000"/>
            <a:ext cx="109728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A5D6482-0ADD-C05F-3035-C480085C05F2}"/>
              </a:ext>
            </a:extLst>
          </p:cNvPr>
          <p:cNvSpPr/>
          <p:nvPr/>
        </p:nvSpPr>
        <p:spPr>
          <a:xfrm>
            <a:off x="5600000" y="1500000"/>
            <a:ext cx="3200000" cy="17000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DCA412-6095-9414-A3D8-6FE483B4C047}"/>
              </a:ext>
            </a:extLst>
          </p:cNvPr>
          <p:cNvSpPr txBox="1"/>
          <p:nvPr/>
        </p:nvSpPr>
        <p:spPr>
          <a:xfrm>
            <a:off x="5750000" y="160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🫁 正念呼吸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31B92F-947C-A666-3A04-8F5F45EDB425}"/>
              </a:ext>
            </a:extLst>
          </p:cNvPr>
          <p:cNvSpPr txBox="1"/>
          <p:nvPr/>
        </p:nvSpPr>
        <p:spPr>
          <a:xfrm>
            <a:off x="5750000" y="1950000"/>
            <a:ext cx="29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4-7-8呼吸法：安神助眠</a:t>
            </a: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方形呼吸：提升注意力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共振呼吸：身心和谐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配合圆形动画随节奏缩放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C52E758-CA6F-D9A7-CBEE-58DFFB4F5EDA}"/>
              </a:ext>
            </a:extLst>
          </p:cNvPr>
          <p:cNvSpPr/>
          <p:nvPr/>
        </p:nvSpPr>
        <p:spPr>
          <a:xfrm>
            <a:off x="5600000" y="3350000"/>
            <a:ext cx="3200000" cy="17000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4B0CEF-CA91-16EC-5260-05B9DB267290}"/>
              </a:ext>
            </a:extLst>
          </p:cNvPr>
          <p:cNvSpPr txBox="1"/>
          <p:nvPr/>
        </p:nvSpPr>
        <p:spPr>
          <a:xfrm>
            <a:off x="5750000" y="345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📊 心理测评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E4A9D5-0570-D780-252B-0450084E765E}"/>
              </a:ext>
            </a:extLst>
          </p:cNvPr>
          <p:cNvSpPr txBox="1"/>
          <p:nvPr/>
        </p:nvSpPr>
        <p:spPr>
          <a:xfrm>
            <a:off x="5750000" y="3800000"/>
            <a:ext cx="29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PHQ-9抑郁筛查（9题）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GAD-7焦虑筛查（7题）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测评后提供分级解读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AI个性化分析报告</a:t>
            </a:r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84B3CC55-5C57-0635-47E1-0C2369E35D5C}"/>
              </a:ext>
            </a:extLst>
          </p:cNvPr>
          <p:cNvSpPr/>
          <p:nvPr/>
        </p:nvSpPr>
        <p:spPr>
          <a:xfrm>
            <a:off x="7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5C220F9B-FD85-DF5A-2962-FE196D75C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630" y="1573661"/>
            <a:ext cx="1404738" cy="3039999"/>
          </a:xfrm>
          <a:prstGeom prst="rect">
            <a:avLst/>
          </a:prstGeom>
        </p:spPr>
      </p:pic>
      <p:sp>
        <p:nvSpPr>
          <p:cNvPr id="32" name="Rounded Rectangle 9">
            <a:extLst>
              <a:ext uri="{FF2B5EF4-FFF2-40B4-BE49-F238E27FC236}">
                <a16:creationId xmlns:a16="http://schemas.microsoft.com/office/drawing/2014/main" id="{DBDD20EB-F4D9-7BB9-159A-0009B7592175}"/>
              </a:ext>
            </a:extLst>
          </p:cNvPr>
          <p:cNvSpPr/>
          <p:nvPr/>
        </p:nvSpPr>
        <p:spPr>
          <a:xfrm>
            <a:off x="32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439F8275-9E24-7BB1-5887-62C4EA35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7630" y="1573661"/>
            <a:ext cx="1404738" cy="3039999"/>
          </a:xfrm>
          <a:prstGeom prst="rect">
            <a:avLst/>
          </a:prstGeom>
        </p:spPr>
      </p:pic>
      <p:sp>
        <p:nvSpPr>
          <p:cNvPr id="34" name="TextBox 11">
            <a:extLst>
              <a:ext uri="{FF2B5EF4-FFF2-40B4-BE49-F238E27FC236}">
                <a16:creationId xmlns:a16="http://schemas.microsoft.com/office/drawing/2014/main" id="{527AA6B1-FD40-A532-077B-B97549086B75}"/>
              </a:ext>
            </a:extLst>
          </p:cNvPr>
          <p:cNvSpPr txBox="1"/>
          <p:nvPr/>
        </p:nvSpPr>
        <p:spPr>
          <a:xfrm>
            <a:off x="614000" y="4773661"/>
            <a:ext cx="2286000" cy="2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正念呼吸：</a:t>
            </a:r>
            <a:r>
              <a:rPr lang="en-US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4-7-8 / 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方形 </a:t>
            </a:r>
            <a:r>
              <a:rPr lang="en-US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 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共振三种模式</a:t>
            </a:r>
            <a:endParaRPr sz="900" dirty="0">
              <a:solidFill>
                <a:srgbClr val="B8A99A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C6F9FBA1-845F-74B6-37E8-54E1768134DB}"/>
              </a:ext>
            </a:extLst>
          </p:cNvPr>
          <p:cNvSpPr txBox="1"/>
          <p:nvPr/>
        </p:nvSpPr>
        <p:spPr>
          <a:xfrm>
            <a:off x="3164000" y="4773661"/>
            <a:ext cx="2286000" cy="2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心理测评：</a:t>
            </a:r>
            <a:r>
              <a:rPr lang="en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PHQ-9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抑郁 </a:t>
            </a:r>
            <a:r>
              <a:rPr lang="en-US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</a:t>
            </a:r>
            <a:r>
              <a:rPr lang="en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GAD-7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焦虑筛查</a:t>
            </a:r>
            <a:endParaRPr sz="900" dirty="0">
              <a:solidFill>
                <a:srgbClr val="B8A99A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926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3E19-7E2D-2018-DB70-2017AB4E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8DD7A8C-ACBE-B353-3506-9E2F7493EA1D}"/>
              </a:ext>
            </a:extLst>
          </p:cNvPr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C8E91BB-9C3E-908E-D88E-39014AC5D7D1}"/>
              </a:ext>
            </a:extLst>
          </p:cNvPr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CDE0E-7BD5-C7F1-236F-412BBD2DB18A}"/>
              </a:ext>
            </a:extLst>
          </p:cNvPr>
          <p:cNvSpPr txBox="1"/>
          <p:nvPr/>
        </p:nvSpPr>
        <p:spPr>
          <a:xfrm>
            <a:off x="640080" y="365760"/>
            <a:ext cx="1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23"/>
                </a:solidFill>
              </a:rPr>
              <a:t>界面展示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DC769-585C-5B21-B07D-EEA1CA164412}"/>
              </a:ext>
            </a:extLst>
          </p:cNvPr>
          <p:cNvSpPr txBox="1"/>
          <p:nvPr/>
        </p:nvSpPr>
        <p:spPr>
          <a:xfrm>
            <a:off x="640080" y="6858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专业心理工具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8650D-A458-ADAF-EA4D-3DE6DCA2EF57}"/>
              </a:ext>
            </a:extLst>
          </p:cNvPr>
          <p:cNvSpPr txBox="1"/>
          <p:nvPr/>
        </p:nvSpPr>
        <p:spPr>
          <a:xfrm>
            <a:off x="640080" y="1188720"/>
            <a:ext cx="80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感恩日记</a:t>
            </a:r>
            <a:r>
              <a:rPr sz="12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</a:t>
            </a:r>
            <a:r>
              <a:rPr sz="12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情绪日历</a:t>
            </a:r>
            <a:endParaRPr sz="12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7FDB4A-8ACA-3972-910C-E74322823ACF}"/>
              </a:ext>
            </a:extLst>
          </p:cNvPr>
          <p:cNvSpPr/>
          <p:nvPr/>
        </p:nvSpPr>
        <p:spPr>
          <a:xfrm>
            <a:off x="640080" y="1100000"/>
            <a:ext cx="109728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81205FF-49A1-C4DA-A5FF-7DDC45EE8CC2}"/>
              </a:ext>
            </a:extLst>
          </p:cNvPr>
          <p:cNvSpPr/>
          <p:nvPr/>
        </p:nvSpPr>
        <p:spPr>
          <a:xfrm>
            <a:off x="5600000" y="1500000"/>
            <a:ext cx="3200000" cy="17000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4BAA96-9EAE-2EA4-809F-353689E0D3D8}"/>
              </a:ext>
            </a:extLst>
          </p:cNvPr>
          <p:cNvSpPr txBox="1"/>
          <p:nvPr/>
        </p:nvSpPr>
        <p:spPr>
          <a:xfrm>
            <a:off x="5750000" y="160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🫁 正念呼吸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051AF-4787-5563-8BAF-116CD6B72097}"/>
              </a:ext>
            </a:extLst>
          </p:cNvPr>
          <p:cNvSpPr txBox="1"/>
          <p:nvPr/>
        </p:nvSpPr>
        <p:spPr>
          <a:xfrm>
            <a:off x="5750000" y="1950000"/>
            <a:ext cx="29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4-7-8呼吸法：安神助眠</a:t>
            </a: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方形呼吸：提升注意力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共振呼吸：身心和谐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algn="l"/>
            <a:r>
              <a:rPr sz="10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配合圆形动画随节奏缩放</a:t>
            </a:r>
            <a:endParaRPr sz="10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A44F6A6-A146-AE8D-B041-9C56C889B1E6}"/>
              </a:ext>
            </a:extLst>
          </p:cNvPr>
          <p:cNvSpPr/>
          <p:nvPr/>
        </p:nvSpPr>
        <p:spPr>
          <a:xfrm>
            <a:off x="5600000" y="3350000"/>
            <a:ext cx="3200000" cy="17000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8AD278-58AB-BA3F-1F78-BD2F49FCE082}"/>
              </a:ext>
            </a:extLst>
          </p:cNvPr>
          <p:cNvSpPr txBox="1"/>
          <p:nvPr/>
        </p:nvSpPr>
        <p:spPr>
          <a:xfrm>
            <a:off x="5750000" y="3450000"/>
            <a:ext cx="2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📊 心理测评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6CB063-0AD3-12C6-CB2E-2F2144918620}"/>
              </a:ext>
            </a:extLst>
          </p:cNvPr>
          <p:cNvSpPr txBox="1"/>
          <p:nvPr/>
        </p:nvSpPr>
        <p:spPr>
          <a:xfrm>
            <a:off x="5750000" y="3800000"/>
            <a:ext cx="29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PHQ-9抑郁筛查（9题）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GAD-7焦虑筛查（7题）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测评后提供分级解读</a:t>
            </a:r>
          </a:p>
          <a:p>
            <a:pPr algn="l"/>
            <a:r>
              <a:rPr sz="10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AI个性化分析报告</a:t>
            </a:r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1A80C569-12D2-FA42-FD5E-473C2CEBB724}"/>
              </a:ext>
            </a:extLst>
          </p:cNvPr>
          <p:cNvSpPr/>
          <p:nvPr/>
        </p:nvSpPr>
        <p:spPr>
          <a:xfrm>
            <a:off x="7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D93AAE14-BEB2-EA80-488A-9833F18A1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630" y="1573661"/>
            <a:ext cx="1404739" cy="3039999"/>
          </a:xfrm>
          <a:prstGeom prst="rect">
            <a:avLst/>
          </a:prstGeom>
        </p:spPr>
      </p:pic>
      <p:sp>
        <p:nvSpPr>
          <p:cNvPr id="32" name="Rounded Rectangle 9">
            <a:extLst>
              <a:ext uri="{FF2B5EF4-FFF2-40B4-BE49-F238E27FC236}">
                <a16:creationId xmlns:a16="http://schemas.microsoft.com/office/drawing/2014/main" id="{0C2F059C-F006-F0F4-586B-6117FA463680}"/>
              </a:ext>
            </a:extLst>
          </p:cNvPr>
          <p:cNvSpPr/>
          <p:nvPr/>
        </p:nvSpPr>
        <p:spPr>
          <a:xfrm>
            <a:off x="3200000" y="1493661"/>
            <a:ext cx="2100000" cy="32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650693C3-0D8B-C2DB-F062-3F3A81D3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7630" y="1573661"/>
            <a:ext cx="1404739" cy="3039999"/>
          </a:xfrm>
          <a:prstGeom prst="rect">
            <a:avLst/>
          </a:prstGeom>
        </p:spPr>
      </p:pic>
      <p:sp>
        <p:nvSpPr>
          <p:cNvPr id="34" name="TextBox 11">
            <a:extLst>
              <a:ext uri="{FF2B5EF4-FFF2-40B4-BE49-F238E27FC236}">
                <a16:creationId xmlns:a16="http://schemas.microsoft.com/office/drawing/2014/main" id="{D3CA4434-7C0E-75C3-7E23-870FFC07D6F8}"/>
              </a:ext>
            </a:extLst>
          </p:cNvPr>
          <p:cNvSpPr txBox="1"/>
          <p:nvPr/>
        </p:nvSpPr>
        <p:spPr>
          <a:xfrm>
            <a:off x="700000" y="4773661"/>
            <a:ext cx="2100000" cy="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感恩日记：每天记录</a:t>
            </a:r>
            <a:r>
              <a:rPr lang="en-US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件感恩小事</a:t>
            </a:r>
            <a:endParaRPr sz="900" dirty="0">
              <a:solidFill>
                <a:srgbClr val="B8A99A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CBD79FB2-9F9D-C392-05CD-2E9103EE9E26}"/>
              </a:ext>
            </a:extLst>
          </p:cNvPr>
          <p:cNvSpPr txBox="1"/>
          <p:nvPr/>
        </p:nvSpPr>
        <p:spPr>
          <a:xfrm>
            <a:off x="3200000" y="4773661"/>
            <a:ext cx="2100000" cy="278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情绪日历：打卡记录 </a:t>
            </a:r>
            <a:r>
              <a:rPr lang="en-US" altLang="zh-CN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+ 8</a:t>
            </a:r>
            <a:r>
              <a:rPr lang="zh-CN" altLang="en-US" sz="900" dirty="0">
                <a:solidFill>
                  <a:srgbClr val="B8A99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个成就徽章</a:t>
            </a:r>
            <a:endParaRPr sz="900" dirty="0">
              <a:solidFill>
                <a:srgbClr val="B8A99A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423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743200"/>
            <a:ext cx="2286000" cy="2286000"/>
          </a:xfrm>
          <a:prstGeom prst="ellipse">
            <a:avLst/>
          </a:prstGeom>
          <a:solidFill>
            <a:srgbClr val="7DD3F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核心功能四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数字媒体艺术疗愈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手势驱动粒子、AI冥想引导、情绪涂鸦——用艺术改善心情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🌊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沉浸式互动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手势/触摸驱动 Perlin 噪声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流场粒子系统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4种情绪色彩主题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🧘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正念冥想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4种冥想类型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呼吸动画+环境音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AI 个性化引导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情绪涂鸦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4种艺术画笔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AI 色彩情绪分析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个人画廊保存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737360"/>
            <a:ext cx="1874520" cy="27432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2606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情绪日历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0632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日历可视化记录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连续打卡成就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月度情绪分布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6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23"/>
                </a:solidFill>
              </a:rPr>
              <a:t>界面展示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数字媒体艺术疗愈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手势粒子互动 · AI冥想引导 · 情绪涂鸦 — 用艺术改善心情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00000"/>
            <a:ext cx="109728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58320"/>
            <a:ext cx="1800000" cy="29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7023" y="1538320"/>
            <a:ext cx="1266113" cy="274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408320"/>
            <a:ext cx="1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情绪涂鸦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832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4种艺术画笔
</a:t>
            </a:r>
            <a:r>
              <a:rPr sz="9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AI色彩情绪分析</a:t>
            </a:r>
            <a:r>
              <a:rPr sz="9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
</a:t>
            </a:r>
            <a:r>
              <a:rPr sz="9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个人画廊保存</a:t>
            </a:r>
            <a:endParaRPr sz="9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00000" y="1458320"/>
            <a:ext cx="1800000" cy="29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6943" y="1538320"/>
            <a:ext cx="1266113" cy="274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00000" y="4408320"/>
            <a:ext cx="1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沉浸互动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468832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手势驱动粒子流场
4种情绪色彩主题
Perlin噪声系统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000" y="1458320"/>
            <a:ext cx="1800000" cy="2900000"/>
          </a:xfrm>
          <a:prstGeom prst="roundRect">
            <a:avLst>
              <a:gd name="adj" fmla="val 7317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66943" y="1538320"/>
            <a:ext cx="1266113" cy="274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0000" y="4408320"/>
            <a:ext cx="1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AI冥想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000" y="468832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4种冥想类型
</a:t>
            </a:r>
            <a:r>
              <a:rPr sz="9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呼吸动画+环境音</a:t>
            </a:r>
            <a:r>
              <a:rPr sz="900" dirty="0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
</a:t>
            </a:r>
            <a:r>
              <a:rPr sz="900" dirty="0" err="1">
                <a:solidFill>
                  <a:srgbClr val="7A6B5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AI个性化引导</a:t>
            </a:r>
            <a:endParaRPr sz="900" dirty="0">
              <a:solidFill>
                <a:srgbClr val="7A6B5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40080" y="1324984"/>
            <a:ext cx="1700000" cy="360000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</a:ln>
          <a:effectLst>
            <a:outerShdw blurRad="76200" dist="25400" dir="8100000" algn="bl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0000" y="1700000"/>
            <a:ext cx="4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0" y="17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沉浸互动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2550000"/>
            <a:ext cx="4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dirty="0"/>
              <a:t>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000" y="260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AI冥想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3400000"/>
            <a:ext cx="4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0000" y="34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情绪涂鸦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0" y="4250000"/>
            <a:ext cx="4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0000" y="430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情绪日历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200400" cy="32004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理论依据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循证心理学基础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每一项功能都有扎实的理论支撑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874520" cy="283464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920240"/>
            <a:ext cx="502920" cy="502920"/>
          </a:xfrm>
          <a:prstGeom prst="ellipse">
            <a:avLst/>
          </a:prstGeom>
          <a:solidFill>
            <a:srgbClr val="F6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情绪ABC理论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事件A不直接导致情绪C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不合理信念B才是内耗根源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→ 识别不合理信念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737360"/>
            <a:ext cx="1874520" cy="283464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92024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88920" y="25603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认知行为疗法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想法—情绪—行为形成循环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通过认知重构打破负向循环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→ 3轮CBT对话引导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1874520" cy="283464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920240"/>
            <a:ext cx="502920" cy="502920"/>
          </a:xfrm>
          <a:prstGeom prst="ellipse">
            <a:avLst/>
          </a:prstGeom>
          <a:solidFill>
            <a:srgbClr val="86C7A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25603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正念减压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提升当下觉察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停止思维反刍，调节自主神经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→ 3种呼吸引导模式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1737360"/>
            <a:ext cx="1874520" cy="2834640"/>
          </a:xfrm>
          <a:prstGeom prst="roundRect">
            <a:avLst>
              <a:gd name="adj" fmla="val 7317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920240"/>
            <a:ext cx="502920" cy="502920"/>
          </a:xfrm>
          <a:prstGeom prst="ellipse">
            <a:avLst/>
          </a:prstGeom>
          <a:solidFill>
            <a:srgbClr val="FD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25603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积极心理学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感恩练习帮助大脑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关注积极面，提升幸福感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37490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→ 感恩日记功能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2743200" cy="2743200"/>
          </a:xfrm>
          <a:prstGeom prst="ellipse">
            <a:avLst/>
          </a:prstGeom>
          <a:solidFill>
            <a:srgbClr val="F6A62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创新亮点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五大创新亮点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6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 智能体架构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D"/>
                </a:solidFill>
              </a:rPr>
              <a:t>AI 自主判断用户需要，主动调用 14 种工具，从「被动回答」到「主动支持」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结构化疗愈流程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313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D"/>
                </a:solidFill>
              </a:rPr>
              <a:t>5步引导整合循证心理学方法，用户跟随引导即可完成认知重构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6C7A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数字媒体艺术疗愈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D"/>
                </a:solidFill>
              </a:rPr>
              <a:t>手势粒子互动、AI冥想引导、情绪涂鸦，用艺术与科技改善情绪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D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多端适配 + 响应式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685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D"/>
                </a:solidFill>
              </a:rPr>
              <a:t>移动端底部导航、触摸手势、PWA支持，完整响应式体验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DD3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隐私优先 + 服务端代理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370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5D"/>
                </a:solidFill>
              </a:rPr>
              <a:t>API Key 支持 .env 配置，服务端代理保护密钥，数据保存在浏览器本地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86C7A3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实践成果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连续 7 天实践，效果显著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</a:rPr>
              <a:t>小组成员亲身实践数据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6C7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内耗频率下降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从每天多次内耗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减少到偶尔发生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↑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任务启动速度提升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拖延时间明显缩短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行动力增强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E0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78BF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↓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94360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焦虑自评分数降低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自我报告焦虑水平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7A6B5D"/>
                </a:solidFill>
              </a:rPr>
              <a:t>持续下降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7863840" cy="1097280"/>
          </a:xfrm>
          <a:prstGeom prst="roundRect">
            <a:avLst>
              <a:gd name="adj" fmla="val 10000"/>
            </a:avLst>
          </a:prstGeom>
          <a:solidFill>
            <a:srgbClr val="FEF3C7">
              <a:alpha val="50000"/>
            </a:srgbClr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8016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做完 5 步疗愈流程后，我发现自己「来不及了」的想法变少了，开始做事变得更果断了。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A99A"/>
                </a:solidFill>
              </a:rPr>
              <a:t>—— 实践参与者反馈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4572000" cy="4572000"/>
          </a:xfrm>
          <a:prstGeom prst="ellipse">
            <a:avLst/>
          </a:prstGeom>
          <a:solidFill>
            <a:srgbClr val="F6A62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86C7A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828800" cy="1828800"/>
          </a:xfrm>
          <a:prstGeom prst="ellipse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D2E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直面情绪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6A62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向阳而生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6B5D"/>
                </a:solidFill>
              </a:rPr>
              <a:t>让每一个大学生，都能拥有一个温暖的心理健康伙伴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3566160"/>
            <a:ext cx="1463040" cy="36576"/>
          </a:xfrm>
          <a:prstGeom prst="rect">
            <a:avLst/>
          </a:prstGeom>
          <a:solidFill>
            <a:srgbClr val="F6A62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A99A"/>
                </a:solidFill>
              </a:rPr>
              <a:t>晴愈AI · 心理健康智能伙伴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9A"/>
                </a:solidFill>
              </a:rPr>
              <a:t>心晴小队 · 南宁师范大学 · 2026年4月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99A"/>
                </a:solidFill>
              </a:rPr>
              <a:t>李悦（组长）  王梓 · 陈曦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718</Words>
  <Application>Microsoft Macintosh PowerPoint</Application>
  <PresentationFormat>全屏显示(16:9)</PresentationFormat>
  <Paragraphs>295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Noto Serif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晴愈AI — 大学生心理健康智能伙伴</dc:title>
  <dc:subject>PptxGenJS Presentation</dc:subject>
  <dc:creator>心晴小队</dc:creator>
  <cp:lastModifiedBy>万里 晴空</cp:lastModifiedBy>
  <cp:revision>2</cp:revision>
  <dcterms:created xsi:type="dcterms:W3CDTF">2026-05-01T15:13:26Z</dcterms:created>
  <dcterms:modified xsi:type="dcterms:W3CDTF">2026-05-03T19:07:32Z</dcterms:modified>
</cp:coreProperties>
</file>