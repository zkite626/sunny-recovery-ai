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3657600" cy="3657600"/>
          </a:xfrm>
          <a:prstGeom prst="ellipse">
            <a:avLst/>
          </a:prstGeom>
          <a:solidFill>
            <a:srgbClr val="F6A623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457200" y="3200400"/>
            <a:ext cx="2286000" cy="2286000"/>
          </a:xfrm>
          <a:prstGeom prst="ellipse">
            <a:avLst/>
          </a:prstGeom>
          <a:solidFill>
            <a:srgbClr val="86C7A3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48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A623"/>
                </a:solidFill>
              </a:rPr>
              <a:t>2026 应用心理学专业活动月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0972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晴愈AI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731520" y="2103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6A62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大学生心理健康智能伙伴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2834640"/>
            <a:ext cx="1097280" cy="36576"/>
          </a:xfrm>
          <a:prstGeom prst="rect">
            <a:avLst/>
          </a:prstGeom>
          <a:solidFill>
            <a:srgbClr val="F6A623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108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A6B5D"/>
                </a:solidFill>
              </a:rPr>
              <a:t>直面情绪，向阳而生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41148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A99A"/>
                </a:solidFill>
              </a:rPr>
              <a:t>心晴小队 · 南宁师范大学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43891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A99A"/>
                </a:solidFill>
              </a:rPr>
              <a:t>李悦（组长）  王梓 · 陈曦    2026年4月27日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914400"/>
            <a:ext cx="2743200" cy="2743200"/>
          </a:xfrm>
          <a:prstGeom prst="ellipse">
            <a:avLst/>
          </a:prstGeom>
          <a:solidFill>
            <a:srgbClr val="F6A623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A623"/>
                </a:solidFill>
              </a:rPr>
              <a:t>背景分析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大学生心理健康，不容忽视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2344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B5D"/>
                </a:solidFill>
              </a:rPr>
              <a:t>焦虑、内耗、自我否定……这些情绪正在影响越来越多大学生的日常生活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828800"/>
            <a:ext cx="1874520" cy="2743200"/>
          </a:xfrm>
          <a:prstGeom prst="roundRect">
            <a:avLst>
              <a:gd name="adj" fmla="val 7317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2011680"/>
            <a:ext cx="1874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😰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40080" y="260604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学业焦虑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017520"/>
            <a:ext cx="15087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A6B5D"/>
                </a:solidFill>
              </a:rPr>
              <a:t>考前反复焦虑</a:t>
            </a:r>
            <a:endParaRPr lang="en-US" sz="11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A6B5D"/>
                </a:solidFill>
              </a:rPr>
              <a:t>复习效率低</a:t>
            </a:r>
            <a:endParaRPr lang="en-US" sz="11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A6B5D"/>
                </a:solidFill>
              </a:rPr>
              <a:t>越拖越焦虑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651760" y="1828800"/>
            <a:ext cx="1874520" cy="2743200"/>
          </a:xfrm>
          <a:prstGeom prst="roundRect">
            <a:avLst>
              <a:gd name="adj" fmla="val 7317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651760" y="2011680"/>
            <a:ext cx="1874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😞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651760" y="260604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自我否定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834640" y="3017520"/>
            <a:ext cx="15087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A6B5D"/>
                </a:solidFill>
              </a:rPr>
              <a:t>完美主义导致</a:t>
            </a:r>
            <a:endParaRPr lang="en-US" sz="11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A6B5D"/>
                </a:solidFill>
              </a:rPr>
              <a:t>不敢开始</a:t>
            </a:r>
            <a:endParaRPr lang="en-US" sz="11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A6B5D"/>
                </a:solidFill>
              </a:rPr>
              <a:t>反复自我批评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1828800"/>
            <a:ext cx="1874520" cy="2743200"/>
          </a:xfrm>
          <a:prstGeom prst="roundRect">
            <a:avLst>
              <a:gd name="adj" fmla="val 7317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63440" y="2011680"/>
            <a:ext cx="1874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🥺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663440" y="260604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社交压力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846320" y="3017520"/>
            <a:ext cx="15087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A6B5D"/>
                </a:solidFill>
              </a:rPr>
              <a:t>与同学对比进度</a:t>
            </a:r>
            <a:endParaRPr lang="en-US" sz="11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A6B5D"/>
                </a:solidFill>
              </a:rPr>
              <a:t>产生自我怀疑</a:t>
            </a:r>
            <a:endParaRPr lang="en-US" sz="11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A6B5D"/>
                </a:solidFill>
              </a:rPr>
              <a:t>回避社交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675120" y="1828800"/>
            <a:ext cx="1874520" cy="2743200"/>
          </a:xfrm>
          <a:prstGeom prst="roundRect">
            <a:avLst>
              <a:gd name="adj" fmla="val 7317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75120" y="2011680"/>
            <a:ext cx="1874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😶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6675120" y="260604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缺乏倾诉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858000" y="3017520"/>
            <a:ext cx="15087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A6B5D"/>
                </a:solidFill>
              </a:rPr>
              <a:t>心理咨询预约难</a:t>
            </a:r>
            <a:endParaRPr lang="en-US" sz="11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A6B5D"/>
                </a:solidFill>
              </a:rPr>
              <a:t>不愿向身边人</a:t>
            </a:r>
            <a:endParaRPr lang="en-US" sz="11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7A6B5D"/>
                </a:solidFill>
              </a:rPr>
              <a:t>袒露脆弱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57200" y="3200400"/>
            <a:ext cx="2743200" cy="2743200"/>
          </a:xfrm>
          <a:prstGeom prst="ellipse">
            <a:avLst/>
          </a:prstGeom>
          <a:solidFill>
            <a:srgbClr val="86C7A3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A623"/>
                </a:solidFill>
              </a:rPr>
              <a:t>解决方案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晴愈AI：AI + 心理学的疗愈伙伴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097280" y="1554480"/>
            <a:ext cx="594360" cy="594360"/>
          </a:xfrm>
          <a:prstGeom prst="ellipse">
            <a:avLst/>
          </a:prstGeom>
          <a:solidFill>
            <a:srgbClr val="F6A623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5544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情绪觉察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60604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识别情绪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类型与强度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920240" y="1645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6A623"/>
                </a:solidFill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697480" y="1554480"/>
            <a:ext cx="594360" cy="594360"/>
          </a:xfrm>
          <a:prstGeom prst="ellipse">
            <a:avLst/>
          </a:prstGeom>
          <a:solidFill>
            <a:srgbClr val="FDA085"/>
          </a:solidFill>
          <a:ln/>
        </p:spPr>
      </p:sp>
      <p:sp>
        <p:nvSpPr>
          <p:cNvPr id="11" name="Text 9"/>
          <p:cNvSpPr/>
          <p:nvPr/>
        </p:nvSpPr>
        <p:spPr>
          <a:xfrm>
            <a:off x="2697480" y="15544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240280" y="22860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身体扫描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240280" y="260604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觉察情绪的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身体感受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520440" y="1645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6A623"/>
                </a:solidFill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297680" y="1554480"/>
            <a:ext cx="594360" cy="59436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6" name="Text 14"/>
          <p:cNvSpPr/>
          <p:nvPr/>
        </p:nvSpPr>
        <p:spPr>
          <a:xfrm>
            <a:off x="4297680" y="15544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840480" y="22860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AI对话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840480" y="260604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CBT引导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认知重构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120640" y="1645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6A623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897880" y="1554480"/>
            <a:ext cx="594360" cy="594360"/>
          </a:xfrm>
          <a:prstGeom prst="ellipse">
            <a:avLst/>
          </a:prstGeom>
          <a:solidFill>
            <a:srgbClr val="7DD3FC"/>
          </a:solidFill>
          <a:ln/>
        </p:spPr>
      </p:sp>
      <p:sp>
        <p:nvSpPr>
          <p:cNvPr id="21" name="Text 19"/>
          <p:cNvSpPr/>
          <p:nvPr/>
        </p:nvSpPr>
        <p:spPr>
          <a:xfrm>
            <a:off x="5897880" y="15544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440680" y="22860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文学安慰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40680" y="260604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AI创作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治愈文字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720840" y="1645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6A623"/>
                </a:solidFill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7498080" y="1554480"/>
            <a:ext cx="594360" cy="594360"/>
          </a:xfrm>
          <a:prstGeom prst="ellipse">
            <a:avLst/>
          </a:prstGeom>
          <a:solidFill>
            <a:srgbClr val="86C7A3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0" y="15544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7040880" y="228600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情绪卡片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040880" y="260604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生成专属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疗愈记录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40080" y="3566160"/>
            <a:ext cx="1874520" cy="1097280"/>
          </a:xfrm>
          <a:prstGeom prst="roundRect">
            <a:avLst>
              <a:gd name="adj" fmla="val 8333"/>
            </a:avLst>
          </a:prstGeom>
          <a:solidFill>
            <a:srgbClr val="FFFFFF">
              <a:alpha val="60000"/>
            </a:srgbClr>
          </a:solidFill>
          <a:ln w="6350">
            <a:solidFill>
              <a:srgbClr val="E0D5C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361188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6A62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10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40080" y="42062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A99A"/>
                </a:solidFill>
              </a:rPr>
              <a:t>智能体工具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651760" y="3566160"/>
            <a:ext cx="1874520" cy="1097280"/>
          </a:xfrm>
          <a:prstGeom prst="roundRect">
            <a:avLst>
              <a:gd name="adj" fmla="val 8333"/>
            </a:avLst>
          </a:prstGeom>
          <a:solidFill>
            <a:srgbClr val="FFFFFF">
              <a:alpha val="60000"/>
            </a:srgbClr>
          </a:solidFill>
          <a:ln w="6350">
            <a:solidFill>
              <a:srgbClr val="E0D5C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651760" y="361188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6A62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2651760" y="42062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A99A"/>
                </a:solidFill>
              </a:rPr>
              <a:t>思维陷阱识别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663440" y="3566160"/>
            <a:ext cx="1874520" cy="1097280"/>
          </a:xfrm>
          <a:prstGeom prst="roundRect">
            <a:avLst>
              <a:gd name="adj" fmla="val 8333"/>
            </a:avLst>
          </a:prstGeom>
          <a:solidFill>
            <a:srgbClr val="FFFFFF">
              <a:alpha val="60000"/>
            </a:srgbClr>
          </a:solidFill>
          <a:ln w="6350">
            <a:solidFill>
              <a:srgbClr val="E0D5C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63440" y="361188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6A62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800" dirty="0"/>
          </a:p>
        </p:txBody>
      </p:sp>
      <p:sp>
        <p:nvSpPr>
          <p:cNvPr id="37" name="Text 35"/>
          <p:cNvSpPr/>
          <p:nvPr/>
        </p:nvSpPr>
        <p:spPr>
          <a:xfrm>
            <a:off x="4663440" y="42062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A99A"/>
                </a:solidFill>
              </a:rPr>
              <a:t>呼吸模式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675120" y="3566160"/>
            <a:ext cx="1874520" cy="1097280"/>
          </a:xfrm>
          <a:prstGeom prst="roundRect">
            <a:avLst>
              <a:gd name="adj" fmla="val 8333"/>
            </a:avLst>
          </a:prstGeom>
          <a:solidFill>
            <a:srgbClr val="FFFFFF">
              <a:alpha val="60000"/>
            </a:srgbClr>
          </a:solidFill>
          <a:ln w="6350">
            <a:solidFill>
              <a:srgbClr val="E0D5C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75120" y="361188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6A62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24h</a:t>
            </a:r>
            <a:endParaRPr lang="en-US" sz="2800" dirty="0"/>
          </a:p>
        </p:txBody>
      </p:sp>
      <p:sp>
        <p:nvSpPr>
          <p:cNvPr id="40" name="Text 38"/>
          <p:cNvSpPr/>
          <p:nvPr/>
        </p:nvSpPr>
        <p:spPr>
          <a:xfrm>
            <a:off x="6675120" y="42062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A99A"/>
                </a:solidFill>
              </a:rPr>
              <a:t>随时可用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-457200"/>
            <a:ext cx="2286000" cy="2286000"/>
          </a:xfrm>
          <a:prstGeom prst="ellipse">
            <a:avLst/>
          </a:prstGeom>
          <a:solidFill>
            <a:srgbClr val="A78BFA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A623"/>
                </a:solidFill>
              </a:rPr>
              <a:t>核心功能一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AI 智能体对话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B5D"/>
                </a:solidFill>
              </a:rPr>
              <a:t>不只是聊天——AI 能自主调用工具，主动提供帮助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719072"/>
            <a:ext cx="164592" cy="164592"/>
          </a:xfrm>
          <a:prstGeom prst="ellipse">
            <a:avLst/>
          </a:prstGeom>
          <a:solidFill>
            <a:srgbClr val="F6A623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1645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自主判断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19202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B5D"/>
                </a:solidFill>
              </a:rPr>
              <a:t>AI 根据用户表达，自主选择最合适的支持方式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450592"/>
            <a:ext cx="164592" cy="164592"/>
          </a:xfrm>
          <a:prstGeom prst="ellipse">
            <a:avLst/>
          </a:prstGeom>
          <a:solidFill>
            <a:srgbClr val="86C7A3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2377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工具调用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0120" y="26517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B5D"/>
                </a:solidFill>
              </a:rPr>
              <a:t>10种工具：身体扫描、呼吸引导、心理测评等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182112"/>
            <a:ext cx="164592" cy="164592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3" name="Text 11"/>
          <p:cNvSpPr/>
          <p:nvPr/>
        </p:nvSpPr>
        <p:spPr>
          <a:xfrm>
            <a:off x="960120" y="3108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跨会话记忆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60120" y="3383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B5D"/>
                </a:solidFill>
              </a:rPr>
              <a:t>记住用户分享过的事情，体现持续关心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3913632"/>
            <a:ext cx="164592" cy="164592"/>
          </a:xfrm>
          <a:prstGeom prst="ellipse">
            <a:avLst/>
          </a:prstGeom>
          <a:solidFill>
            <a:srgbClr val="FDA085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3840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危机检测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6012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6B5D"/>
                </a:solidFill>
              </a:rPr>
              <a:t>识别自伤关键词，立即提供心理援助热线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754880" y="1463040"/>
            <a:ext cx="3840480" cy="3200400"/>
          </a:xfrm>
          <a:prstGeom prst="roundRect">
            <a:avLst>
              <a:gd name="adj" fmla="val 4286"/>
            </a:avLst>
          </a:prstGeom>
          <a:solidFill>
            <a:srgbClr val="FFFFFF">
              <a:alpha val="8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029200" y="1691640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6350">
            <a:solidFill>
              <a:srgbClr val="E8E0D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66360" y="173736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2E1F"/>
                </a:solidFill>
              </a:rPr>
              <a:t>你好呀 👋 我是晴愈，你的心理健康伙伴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0" y="2377440"/>
            <a:ext cx="2743200" cy="502920"/>
          </a:xfrm>
          <a:prstGeom prst="roundRect">
            <a:avLst>
              <a:gd name="adj" fmla="val 18182"/>
            </a:avLst>
          </a:prstGeom>
          <a:solidFill>
            <a:srgbClr val="FEF3C7"/>
          </a:solidFill>
          <a:ln w="6350">
            <a:solidFill>
              <a:srgbClr val="FDE2C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06440" y="24231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D2E1F"/>
                </a:solidFill>
              </a:rPr>
              <a:t>明天就要考试了，我觉得自己什么都没准备好……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029200" y="3063240"/>
            <a:ext cx="292608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6350">
            <a:solidFill>
              <a:srgbClr val="E8E0D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66360" y="310896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D2E1F"/>
                </a:solidFill>
              </a:rPr>
              <a:t>听起来你有些考前焦虑呢 😰 这种「来不及了」的想法，是不是让你更难开始？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029200" y="3840480"/>
            <a:ext cx="2286000" cy="320040"/>
          </a:xfrm>
          <a:prstGeom prst="roundRect">
            <a:avLst>
              <a:gd name="adj" fmla="val 57143"/>
            </a:avLst>
          </a:prstGeom>
          <a:solidFill>
            <a:srgbClr val="D4EDDA"/>
          </a:solidFill>
          <a:ln w="6350">
            <a:solidFill>
              <a:srgbClr val="86C7A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0" y="3858768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6C7A3"/>
                </a:solidFill>
              </a:rPr>
              <a:t>正在启动正念呼吸...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" y="2743200"/>
            <a:ext cx="1828800" cy="1828800"/>
          </a:xfrm>
          <a:prstGeom prst="ellipse">
            <a:avLst/>
          </a:prstGeom>
          <a:solidFill>
            <a:srgbClr val="F6A623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A623"/>
                </a:solidFill>
              </a:rPr>
              <a:t>核心功能二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 步 CBT 情绪疗愈流程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B5D"/>
                </a:solidFill>
              </a:rPr>
              <a:t>基于认知行为疗法的结构化引导，每一步都有科学依据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645920"/>
            <a:ext cx="2468880" cy="2011680"/>
          </a:xfrm>
          <a:prstGeom prst="roundRect">
            <a:avLst>
              <a:gd name="adj" fmla="val 6818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1828800"/>
            <a:ext cx="1097280" cy="320040"/>
          </a:xfrm>
          <a:prstGeom prst="roundRect">
            <a:avLst>
              <a:gd name="adj" fmla="val 57143"/>
            </a:avLst>
          </a:prstGeom>
          <a:solidFill>
            <a:srgbClr val="FEF3C7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8288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6A623"/>
                </a:solidFill>
              </a:rPr>
              <a:t>步骤 1-2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22960" y="2286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情绪觉察 + 身体扫描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65176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滑动选择情绪强度，选择情绪标签，写下感受。交互式人体图引导觉察身体紧张部位。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1840" y="1645920"/>
            <a:ext cx="2468880" cy="2011680"/>
          </a:xfrm>
          <a:prstGeom prst="roundRect">
            <a:avLst>
              <a:gd name="adj" fmla="val 6818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74720" y="1828800"/>
            <a:ext cx="1097280" cy="320040"/>
          </a:xfrm>
          <a:prstGeom prst="roundRect">
            <a:avLst>
              <a:gd name="adj" fmla="val 57143"/>
            </a:avLst>
          </a:prstGeom>
          <a:solidFill>
            <a:srgbClr val="EDE9FE"/>
          </a:solidFill>
          <a:ln/>
        </p:spPr>
      </p:sp>
      <p:sp>
        <p:nvSpPr>
          <p:cNvPr id="13" name="Text 11"/>
          <p:cNvSpPr/>
          <p:nvPr/>
        </p:nvSpPr>
        <p:spPr>
          <a:xfrm>
            <a:off x="3474720" y="18288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78BFA"/>
                </a:solidFill>
              </a:rPr>
              <a:t>步骤 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4720" y="2286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AI CBT 对话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74720" y="265176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3轮引导：共情识别思维陷阱 → 分离想法与事实 → 认知重构 + 微行动建议。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43600" y="1645920"/>
            <a:ext cx="2468880" cy="2011680"/>
          </a:xfrm>
          <a:prstGeom prst="roundRect">
            <a:avLst>
              <a:gd name="adj" fmla="val 6818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1828800"/>
            <a:ext cx="1097280" cy="320040"/>
          </a:xfrm>
          <a:prstGeom prst="roundRect">
            <a:avLst>
              <a:gd name="adj" fmla="val 57143"/>
            </a:avLst>
          </a:prstGeom>
          <a:solidFill>
            <a:srgbClr val="D4EDDA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0" y="18288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6C7A3"/>
                </a:solidFill>
              </a:rPr>
              <a:t>步骤 4-5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126480" y="22860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文学安慰 + 情绪卡片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126480" y="265176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AI 创作专属治愈文字，生成精美疗愈卡片，记录完整旅程。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0080" y="3840480"/>
            <a:ext cx="3474720" cy="731520"/>
          </a:xfrm>
          <a:prstGeom prst="roundRect">
            <a:avLst>
              <a:gd name="adj" fmla="val 12500"/>
            </a:avLst>
          </a:prstGeom>
          <a:solidFill>
            <a:srgbClr val="FEE2E2">
              <a:alpha val="50000"/>
            </a:srgbClr>
          </a:solidFill>
          <a:ln w="6350">
            <a:solidFill>
              <a:srgbClr val="FCA5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</a:rPr>
              <a:t>旧想法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" y="4160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2E1F"/>
                </a:solidFill>
              </a:rPr>
              <a:t>「我必须完美，做不好就完蛋」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206240" y="39319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6A623"/>
                </a:solidFill>
              </a:rPr>
              <a:t>→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4754880" y="3840480"/>
            <a:ext cx="3474720" cy="731520"/>
          </a:xfrm>
          <a:prstGeom prst="roundRect">
            <a:avLst>
              <a:gd name="adj" fmla="val 12500"/>
            </a:avLst>
          </a:prstGeom>
          <a:solidFill>
            <a:srgbClr val="D1FAE5">
              <a:alpha val="50000"/>
            </a:srgbClr>
          </a:solidFill>
          <a:ln w="6350">
            <a:solidFill>
              <a:srgbClr val="6EE7B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37760" y="3886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</a:rPr>
              <a:t>新想法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937760" y="4160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D2E1F"/>
                </a:solidFill>
              </a:rPr>
              <a:t>「先完成，再完善，每天进步一点」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731520"/>
            <a:ext cx="2286000" cy="2286000"/>
          </a:xfrm>
          <a:prstGeom prst="ellipse">
            <a:avLst/>
          </a:prstGeom>
          <a:solidFill>
            <a:srgbClr val="86C7A3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A623"/>
                </a:solidFill>
              </a:rPr>
              <a:t>核心功能三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多维辅助工具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B5D"/>
                </a:solidFill>
              </a:rPr>
              <a:t>正念呼吸、心理测评、感恩日记、情绪记录——全方位心理健康守护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874520" cy="2743200"/>
          </a:xfrm>
          <a:prstGeom prst="roundRect">
            <a:avLst>
              <a:gd name="adj" fmla="val 7317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92024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🫁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640080" y="260604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正念呼吸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063240"/>
            <a:ext cx="1508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4-7-8 / 方形 / 共振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3种科学呼吸引导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动画可视化辅助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51760" y="1737360"/>
            <a:ext cx="1874520" cy="2743200"/>
          </a:xfrm>
          <a:prstGeom prst="roundRect">
            <a:avLst>
              <a:gd name="adj" fmla="val 7317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651760" y="192024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📊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2651760" y="260604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心理测评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834640" y="3063240"/>
            <a:ext cx="1508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PHQ-9 抑郁筛查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GAD-7 焦虑筛查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AI 个性化分析报告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737360"/>
            <a:ext cx="1874520" cy="2743200"/>
          </a:xfrm>
          <a:prstGeom prst="roundRect">
            <a:avLst>
              <a:gd name="adj" fmla="val 7317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63440" y="192024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🌿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4663440" y="260604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感恩日记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846320" y="3063240"/>
            <a:ext cx="1508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每天记录 3 件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感恩的小事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培养积极心态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675120" y="1737360"/>
            <a:ext cx="1874520" cy="2743200"/>
          </a:xfrm>
          <a:prstGeom prst="roundRect">
            <a:avLst>
              <a:gd name="adj" fmla="val 7317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75120" y="192024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🎨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6675120" y="2606040"/>
            <a:ext cx="1874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情绪卡片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858000" y="3063240"/>
            <a:ext cx="1508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Canvas 精美渲染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记录完整疗愈旅程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可保存为图片分享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2743200"/>
            <a:ext cx="3200400" cy="3200400"/>
          </a:xfrm>
          <a:prstGeom prst="ellipse">
            <a:avLst/>
          </a:prstGeom>
          <a:solidFill>
            <a:srgbClr val="A78BFA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A623"/>
                </a:solidFill>
              </a:rPr>
              <a:t>理论依据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循证心理学基础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B5D"/>
                </a:solidFill>
              </a:rPr>
              <a:t>每一项功能都有扎实的理论支撑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874520" cy="2834640"/>
          </a:xfrm>
          <a:prstGeom prst="roundRect">
            <a:avLst>
              <a:gd name="adj" fmla="val 7317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280160" y="1920240"/>
            <a:ext cx="502920" cy="502920"/>
          </a:xfrm>
          <a:prstGeom prst="ellipse">
            <a:avLst/>
          </a:prstGeom>
          <a:solidFill>
            <a:srgbClr val="F6A623"/>
          </a:solidFill>
          <a:ln/>
        </p:spPr>
      </p:sp>
      <p:sp>
        <p:nvSpPr>
          <p:cNvPr id="8" name="Text 6"/>
          <p:cNvSpPr/>
          <p:nvPr/>
        </p:nvSpPr>
        <p:spPr>
          <a:xfrm>
            <a:off x="128016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256032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情绪ABC理论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77240" y="2926080"/>
            <a:ext cx="1600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事件A不直接导致情绪C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不合理信念B才是内耗根源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374904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6A623"/>
                </a:solidFill>
              </a:rPr>
              <a:t>→ 识别不合理信念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651760" y="1737360"/>
            <a:ext cx="1874520" cy="2834640"/>
          </a:xfrm>
          <a:prstGeom prst="roundRect">
            <a:avLst>
              <a:gd name="adj" fmla="val 7317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920240"/>
            <a:ext cx="502920" cy="50292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4" name="Text 12"/>
          <p:cNvSpPr/>
          <p:nvPr/>
        </p:nvSpPr>
        <p:spPr>
          <a:xfrm>
            <a:off x="329184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788920" y="256032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认知行为疗法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788920" y="2926080"/>
            <a:ext cx="1600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想法—情绪—行为形成循环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通过认知重构打破负向循环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788920" y="374904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6A623"/>
                </a:solidFill>
              </a:rPr>
              <a:t>→ 3轮CBT对话引导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1737360"/>
            <a:ext cx="1874520" cy="2834640"/>
          </a:xfrm>
          <a:prstGeom prst="roundRect">
            <a:avLst>
              <a:gd name="adj" fmla="val 7317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303520" y="1920240"/>
            <a:ext cx="502920" cy="502920"/>
          </a:xfrm>
          <a:prstGeom prst="ellipse">
            <a:avLst/>
          </a:prstGeom>
          <a:solidFill>
            <a:srgbClr val="86C7A3"/>
          </a:solidFill>
          <a:ln/>
        </p:spPr>
      </p:sp>
      <p:sp>
        <p:nvSpPr>
          <p:cNvPr id="20" name="Text 18"/>
          <p:cNvSpPr/>
          <p:nvPr/>
        </p:nvSpPr>
        <p:spPr>
          <a:xfrm>
            <a:off x="530352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800600" y="256032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正念减压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00600" y="2926080"/>
            <a:ext cx="1600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提升当下觉察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停止思维反刍，调节自主神经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00600" y="374904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6A623"/>
                </a:solidFill>
              </a:rPr>
              <a:t>→ 3种呼吸引导模式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675120" y="1737360"/>
            <a:ext cx="1874520" cy="2834640"/>
          </a:xfrm>
          <a:prstGeom prst="roundRect">
            <a:avLst>
              <a:gd name="adj" fmla="val 7317"/>
            </a:avLst>
          </a:prstGeom>
          <a:solidFill>
            <a:srgbClr val="FFFFFF">
              <a:alpha val="7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315200" y="1920240"/>
            <a:ext cx="502920" cy="502920"/>
          </a:xfrm>
          <a:prstGeom prst="ellipse">
            <a:avLst/>
          </a:prstGeom>
          <a:solidFill>
            <a:srgbClr val="FDA085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812280" y="256032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积极心理学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812280" y="2926080"/>
            <a:ext cx="1600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感恩练习帮助大脑</a:t>
            </a:r>
            <a:endParaRPr lang="en-US" sz="10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关注积极面，提升幸福感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812280" y="3749040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6A623"/>
                </a:solidFill>
              </a:rPr>
              <a:t>→ 感恩日记功能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57200" y="-731520"/>
            <a:ext cx="2743200" cy="2743200"/>
          </a:xfrm>
          <a:prstGeom prst="ellipse">
            <a:avLst/>
          </a:prstGeom>
          <a:solidFill>
            <a:srgbClr val="F6A623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A623"/>
                </a:solidFill>
              </a:rPr>
              <a:t>创新亮点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五大创新亮点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F6A62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71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258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AI 智能体架构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25880" y="16276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B5D"/>
                </a:solidFill>
              </a:rPr>
              <a:t>AI 自主判断用户需要，主动调用 10 种工具，从「被动回答」到「主动支持」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A78BFA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057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25880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结构化疗愈流程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25880" y="23134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B5D"/>
                </a:solidFill>
              </a:rPr>
              <a:t>5步引导整合循证心理学方法，用户跟随引导即可完成认知重构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7432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86C7A3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743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2743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多模态情绪表达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25880" y="29992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B5D"/>
                </a:solidFill>
              </a:rPr>
              <a:t>文字、身体、呼吸、创作四维感知，多维度覆盖情绪感知通道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4290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FDA085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429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25880" y="3429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可视化情绪卡片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25880" y="36850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B5D"/>
                </a:solidFill>
              </a:rPr>
              <a:t>Canvas 生成精美卡片，记录思维陷阱→认知重构→微行动，可保存分享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114800"/>
            <a:ext cx="502920" cy="502920"/>
          </a:xfrm>
          <a:prstGeom prst="roundRect">
            <a:avLst>
              <a:gd name="adj" fmla="val 14545"/>
            </a:avLst>
          </a:prstGeom>
          <a:solidFill>
            <a:srgbClr val="7DD3FC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114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25880" y="4114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隐私优先 + 零门槛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25880" y="437083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6B5D"/>
                </a:solidFill>
              </a:rPr>
              <a:t>数据保存在浏览器本地，不上传服务器，无需注册，设置 API Key 即可使用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457200"/>
            <a:ext cx="2286000" cy="2286000"/>
          </a:xfrm>
          <a:prstGeom prst="ellipse">
            <a:avLst/>
          </a:prstGeom>
          <a:solidFill>
            <a:srgbClr val="86C7A3">
              <a:alpha val="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6A623"/>
                </a:solidFill>
              </a:rPr>
              <a:t>实践成果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6858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连续 7 天实践，效果显著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6B5D"/>
                </a:solidFill>
              </a:rPr>
              <a:t>小组成员亲身实践数据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645920"/>
            <a:ext cx="2468880" cy="1645920"/>
          </a:xfrm>
          <a:prstGeom prst="roundRect">
            <a:avLst>
              <a:gd name="adj" fmla="val 8333"/>
            </a:avLst>
          </a:prstGeom>
          <a:solidFill>
            <a:srgbClr val="FFFFFF">
              <a:alpha val="8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73736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6C7A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65%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内耗频率下降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7889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从每天多次内耗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减少到偶尔发生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91840" y="1645920"/>
            <a:ext cx="2468880" cy="1645920"/>
          </a:xfrm>
          <a:prstGeom prst="roundRect">
            <a:avLst>
              <a:gd name="adj" fmla="val 8333"/>
            </a:avLst>
          </a:prstGeom>
          <a:solidFill>
            <a:srgbClr val="FFFFFF">
              <a:alpha val="8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291840" y="173736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A62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↑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291840" y="24688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任务启动速度提升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91840" y="27889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拖延时间明显缩短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行动力增强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943600" y="1645920"/>
            <a:ext cx="2468880" cy="1645920"/>
          </a:xfrm>
          <a:prstGeom prst="roundRect">
            <a:avLst>
              <a:gd name="adj" fmla="val 8333"/>
            </a:avLst>
          </a:prstGeom>
          <a:solidFill>
            <a:srgbClr val="FFFFFF">
              <a:alpha val="80000"/>
            </a:srgbClr>
          </a:solidFill>
          <a:ln w="6350">
            <a:solidFill>
              <a:srgbClr val="E0D5C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943600" y="173736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78BF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↓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5943600" y="24688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焦虑自评分数降低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943600" y="27889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自我报告焦虑水平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7A6B5D"/>
                </a:solidFill>
              </a:rPr>
              <a:t>持续下降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3566160"/>
            <a:ext cx="7863840" cy="1097280"/>
          </a:xfrm>
          <a:prstGeom prst="roundRect">
            <a:avLst>
              <a:gd name="adj" fmla="val 10000"/>
            </a:avLst>
          </a:prstGeom>
          <a:solidFill>
            <a:srgbClr val="FEF3C7">
              <a:alpha val="50000"/>
            </a:srgbClr>
          </a:solidFill>
          <a:ln w="6350">
            <a:solidFill>
              <a:srgbClr val="FDE6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F6A62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"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128016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做完 5 步疗愈流程后，我发现自己「来不及了」的想法变少了，开始做事变得更果断了。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80160" y="4160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A99A"/>
                </a:solidFill>
              </a:rPr>
              <a:t>—— 实践参与者反馈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8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-1371600"/>
            <a:ext cx="4572000" cy="4572000"/>
          </a:xfrm>
          <a:prstGeom prst="ellipse">
            <a:avLst/>
          </a:prstGeom>
          <a:solidFill>
            <a:srgbClr val="F6A623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457200" y="3200400"/>
            <a:ext cx="2286000" cy="2286000"/>
          </a:xfrm>
          <a:prstGeom prst="ellipse">
            <a:avLst/>
          </a:prstGeom>
          <a:solidFill>
            <a:srgbClr val="86C7A3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274320"/>
            <a:ext cx="1828800" cy="1828800"/>
          </a:xfrm>
          <a:prstGeom prst="ellipse">
            <a:avLst/>
          </a:prstGeom>
          <a:solidFill>
            <a:srgbClr val="A78BFA">
              <a:alpha val="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09728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3D2E1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直面情绪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1371600" y="192024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6A623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向阳而生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1371600" y="29260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7A6B5D"/>
                </a:solidFill>
              </a:rPr>
              <a:t>让每一个大学生，都能拥有一个温暖的心理健康伙伴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3566160"/>
            <a:ext cx="1463040" cy="36576"/>
          </a:xfrm>
          <a:prstGeom prst="rect">
            <a:avLst/>
          </a:prstGeom>
          <a:solidFill>
            <a:srgbClr val="F6A623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37490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A99A"/>
                </a:solidFill>
              </a:rPr>
              <a:t>晴愈AI · 心理健康智能伙伴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371600" y="41148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A99A"/>
                </a:solidFill>
              </a:rPr>
              <a:t>心晴小队 · 南宁师范大学 · 2026年4月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371600" y="43891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A99A"/>
                </a:solidFill>
              </a:rPr>
              <a:t>李悦（组长）  王梓 · 陈曦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晴愈AI — 大学生心理健康智能伙伴</dc:title>
  <dc:subject>PptxGenJS Presentation</dc:subject>
  <dc:creator>心晴小队</dc:creator>
  <cp:lastModifiedBy>心晴小队</cp:lastModifiedBy>
  <cp:revision>1</cp:revision>
  <dcterms:created xsi:type="dcterms:W3CDTF">2026-05-01T10:19:46Z</dcterms:created>
  <dcterms:modified xsi:type="dcterms:W3CDTF">2026-05-01T10:19:46Z</dcterms:modified>
</cp:coreProperties>
</file>